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61" r:id="rId6"/>
    <p:sldId id="264" r:id="rId7"/>
    <p:sldId id="265" r:id="rId8"/>
    <p:sldId id="263" r:id="rId9"/>
    <p:sldId id="270" r:id="rId10"/>
    <p:sldId id="266" r:id="rId11"/>
    <p:sldId id="269" r:id="rId12"/>
    <p:sldId id="268" r:id="rId13"/>
    <p:sldId id="272" r:id="rId14"/>
    <p:sldId id="267" r:id="rId15"/>
    <p:sldId id="27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121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8E8B8D-D583-4F69-9947-E4617E7BD447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6D8DE4-CADC-448F-A1F3-71805CC8A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37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73575" y="4686475"/>
            <a:ext cx="5388600" cy="44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375" y="739775"/>
            <a:ext cx="6577013" cy="37004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27613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0312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8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3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43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7" name="Google Shape;27;p43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3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SzPts val="3360"/>
              <a:buChar char="•"/>
              <a:defRPr sz="2400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000"/>
              <a:buChar char="–"/>
              <a:defRPr sz="2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SzPts val="2520"/>
              <a:buChar char="•"/>
              <a:defRPr sz="180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–"/>
              <a:defRPr sz="160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»"/>
              <a:defRPr sz="160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SzPts val="2160"/>
              <a:buChar char="•"/>
              <a:defRPr sz="1600"/>
            </a:lvl9pPr>
          </a:lstStyle>
          <a:p>
            <a:endParaRPr/>
          </a:p>
        </p:txBody>
      </p:sp>
      <p:sp>
        <p:nvSpPr>
          <p:cNvPr id="29" name="Google Shape;29;p4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9788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9865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368819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25493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1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5" y="273052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441960" algn="l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1" y="1435102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764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lnSpc>
                <a:spcPct val="100000"/>
              </a:lnSpc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lnSpc>
                <a:spcPct val="100000"/>
              </a:lnSpc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lnSpc>
                <a:spcPct val="100000"/>
              </a:lnSpc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0279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59296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11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lnSpc>
                <a:spcPct val="100000"/>
              </a:lnSpc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lnSpc>
                <a:spcPct val="10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kern="0"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20"/>
              <a:buFont typeface="Arial"/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kern="0"/>
              <a:pPr/>
              <a:t>‹#›</a:t>
            </a:fld>
            <a:endParaRPr kern="0"/>
          </a:p>
        </p:txBody>
      </p:sp>
    </p:spTree>
    <p:extLst>
      <p:ext uri="{BB962C8B-B14F-4D97-AF65-F5344CB8AC3E}">
        <p14:creationId xmlns:p14="http://schemas.microsoft.com/office/powerpoint/2010/main" val="228901907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4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898421" y="3165988"/>
            <a:ext cx="10370574" cy="226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/>
          <a:p>
            <a:pPr lvl="0">
              <a:buSzPct val="96609"/>
            </a:pPr>
            <a:r>
              <a:rPr lang="en-IN" sz="3600" dirty="0"/>
              <a:t>An Adaptive, Explainable Multi-Agent Retrieval Framework for Intelligent Document Analysis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shaileshbhosekar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Google Shape;84;p1"/>
          <p:cNvSpPr txBox="1">
            <a:spLocks/>
          </p:cNvSpPr>
          <p:nvPr/>
        </p:nvSpPr>
        <p:spPr>
          <a:xfrm>
            <a:off x="7973960" y="5107858"/>
            <a:ext cx="4308987" cy="1472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>
              <a:buClr>
                <a:srgbClr val="000000"/>
              </a:buClr>
              <a:buSzPct val="96609"/>
              <a:defRPr/>
            </a:pPr>
            <a:r>
              <a:rPr lang="en-US" sz="24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lvl="0">
              <a:buClr>
                <a:srgbClr val="000000"/>
              </a:buClr>
              <a:buSzPct val="96609"/>
              <a:defRPr/>
            </a:pPr>
            <a:r>
              <a:rPr lang="en-IN" sz="2400" b="1" dirty="0"/>
              <a:t>N Ajay Charan</a:t>
            </a:r>
          </a:p>
          <a:p>
            <a:pPr lvl="0">
              <a:buClr>
                <a:srgbClr val="000000"/>
              </a:buClr>
              <a:buSzPct val="96609"/>
              <a:defRPr/>
            </a:pPr>
            <a:r>
              <a:rPr lang="en-IN" sz="2400" b="1" dirty="0"/>
              <a:t>M V S Madhav</a:t>
            </a:r>
            <a:br>
              <a:rPr lang="en-IN" sz="2400" dirty="0"/>
            </a:br>
            <a:r>
              <a:rPr lang="en-IN" sz="2400" b="1" dirty="0"/>
              <a:t>N Sachin Goud</a:t>
            </a:r>
          </a:p>
          <a:p>
            <a:pPr lvl="0">
              <a:buClr>
                <a:srgbClr val="000000"/>
              </a:buClr>
              <a:buSzPct val="96609"/>
              <a:defRPr/>
            </a:pPr>
            <a:r>
              <a:rPr lang="en-IN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 Sohel Khan</a:t>
            </a:r>
            <a:r>
              <a:rPr lang="en-US" sz="2400" kern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01800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11277" y="1250051"/>
            <a:ext cx="11680723" cy="468312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9600" dirty="0"/>
              <a:t>🎯 Problem Statement </a:t>
            </a:r>
          </a:p>
          <a:p>
            <a:pPr marL="0" indent="0">
              <a:buNone/>
            </a:pPr>
            <a:r>
              <a:rPr lang="en-IN" sz="9600" dirty="0"/>
              <a:t>• Hallucinations </a:t>
            </a:r>
          </a:p>
          <a:p>
            <a:pPr marL="0" indent="0">
              <a:buNone/>
            </a:pPr>
            <a:r>
              <a:rPr lang="en-IN" sz="9600" dirty="0"/>
              <a:t>• Static Retrieval </a:t>
            </a:r>
          </a:p>
          <a:p>
            <a:pPr marL="0" indent="0">
              <a:buNone/>
            </a:pPr>
            <a:r>
              <a:rPr lang="en-IN" sz="9600" dirty="0"/>
              <a:t>• Limited Explainability </a:t>
            </a:r>
          </a:p>
          <a:p>
            <a:pPr marL="0" indent="0">
              <a:buNone/>
            </a:pPr>
            <a:r>
              <a:rPr lang="en-IN" sz="9600" dirty="0"/>
              <a:t>🎯 Objective </a:t>
            </a:r>
          </a:p>
          <a:p>
            <a:pPr marL="0" indent="0">
              <a:buNone/>
            </a:pPr>
            <a:r>
              <a:rPr lang="en-IN" sz="9600" dirty="0"/>
              <a:t>• Build an adaptive and explainable multi-agent document intelligence system </a:t>
            </a:r>
          </a:p>
          <a:p>
            <a:pPr marL="0" indent="0">
              <a:buNone/>
            </a:pPr>
            <a:r>
              <a:rPr lang="en-IN" sz="9600" dirty="0"/>
              <a:t>🎯 Proposed Solution </a:t>
            </a:r>
          </a:p>
          <a:p>
            <a:pPr marL="0" indent="0">
              <a:buNone/>
            </a:pPr>
            <a:r>
              <a:rPr lang="en-IN" sz="9600" dirty="0"/>
              <a:t>• Adaptive Retrieval </a:t>
            </a:r>
          </a:p>
          <a:p>
            <a:pPr marL="0" indent="0">
              <a:buNone/>
            </a:pPr>
            <a:r>
              <a:rPr lang="en-IN" sz="9600" dirty="0"/>
              <a:t>• Multi-Agent AI </a:t>
            </a:r>
          </a:p>
          <a:p>
            <a:pPr marL="0" indent="0">
              <a:buNone/>
            </a:pPr>
            <a:r>
              <a:rPr lang="en-IN" sz="9600" dirty="0"/>
              <a:t>• Evidence Verification </a:t>
            </a:r>
          </a:p>
          <a:p>
            <a:pPr marL="0" indent="0">
              <a:buNone/>
            </a:pPr>
            <a:r>
              <a:rPr lang="en-IN" sz="9600" dirty="0"/>
              <a:t>• Explainability </a:t>
            </a:r>
          </a:p>
          <a:p>
            <a:pPr marL="0" indent="0">
              <a:buNone/>
            </a:pPr>
            <a:r>
              <a:rPr lang="en-IN" sz="9600" dirty="0"/>
              <a:t>🎯 Technology Stack Next.js | FastAPI | </a:t>
            </a:r>
            <a:r>
              <a:rPr lang="en-IN" sz="9600" dirty="0" err="1"/>
              <a:t>LangGraph</a:t>
            </a:r>
            <a:r>
              <a:rPr lang="en-IN" sz="9600" dirty="0"/>
              <a:t> | </a:t>
            </a:r>
            <a:r>
              <a:rPr lang="en-IN" sz="9600" dirty="0" err="1"/>
              <a:t>Qdrant</a:t>
            </a:r>
            <a:r>
              <a:rPr lang="en-IN" sz="9600" dirty="0"/>
              <a:t> PostgreSQL | Gemini/OpenAI </a:t>
            </a:r>
          </a:p>
          <a:p>
            <a:pPr marL="0" indent="0">
              <a:buNone/>
            </a:pPr>
            <a:r>
              <a:rPr lang="en-IN" sz="9600" dirty="0"/>
              <a:t>🎯 Expected Outcome Reliable, transparent, and trustworthy AI-powered document analysis</a:t>
            </a:r>
            <a:endParaRPr lang="en-US" sz="9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190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Literature Survey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>
            <a:normAutofit/>
          </a:bodyPr>
          <a:lstStyle/>
          <a:p>
            <a:r>
              <a:rPr lang="en-IN" dirty="0"/>
              <a:t>Key Observations </a:t>
            </a:r>
          </a:p>
          <a:p>
            <a:pPr marL="0" indent="0">
              <a:buNone/>
            </a:pPr>
            <a:r>
              <a:rPr lang="en-IN" dirty="0"/>
              <a:t>✓ Static retrieval is common </a:t>
            </a:r>
          </a:p>
          <a:p>
            <a:pPr marL="0" indent="0">
              <a:buNone/>
            </a:pPr>
            <a:r>
              <a:rPr lang="en-IN" dirty="0"/>
              <a:t>✓ Limited explainability </a:t>
            </a:r>
          </a:p>
          <a:p>
            <a:pPr marL="0" indent="0">
              <a:buNone/>
            </a:pPr>
            <a:r>
              <a:rPr lang="en-IN" dirty="0"/>
              <a:t>✓ Limited evidence verification </a:t>
            </a:r>
          </a:p>
          <a:p>
            <a:pPr marL="0" indent="0">
              <a:buNone/>
            </a:pPr>
            <a:r>
              <a:rPr lang="en-IN" dirty="0"/>
              <a:t>✓ Research gap identified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B5086D-D86F-E854-B99C-05DB2DA8DF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1" t="20812" r="6257" b="21121"/>
          <a:stretch>
            <a:fillRect/>
          </a:stretch>
        </p:blipFill>
        <p:spPr>
          <a:xfrm>
            <a:off x="4827711" y="1634098"/>
            <a:ext cx="6962274" cy="468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505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Existing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>
            <a:normAutofit fontScale="92500" lnSpcReduction="20000"/>
          </a:bodyPr>
          <a:lstStyle/>
          <a:p>
            <a:r>
              <a:rPr lang="en-IN" sz="2800" dirty="0"/>
              <a:t>Features </a:t>
            </a:r>
          </a:p>
          <a:p>
            <a:pPr marL="0" indent="0">
              <a:buNone/>
            </a:pPr>
            <a:r>
              <a:rPr lang="en-IN" sz="2800" dirty="0"/>
              <a:t>✔ Semantic Search </a:t>
            </a:r>
          </a:p>
          <a:p>
            <a:pPr marL="0" indent="0">
              <a:buNone/>
            </a:pPr>
            <a:r>
              <a:rPr lang="en-IN" sz="2800" dirty="0"/>
              <a:t>✔ Vector Database </a:t>
            </a:r>
          </a:p>
          <a:p>
            <a:pPr marL="0" indent="0">
              <a:buNone/>
            </a:pPr>
            <a:r>
              <a:rPr lang="en-IN" sz="2800" dirty="0"/>
              <a:t>✔ LLM-based QA </a:t>
            </a:r>
          </a:p>
          <a:p>
            <a:pPr marL="0" indent="0">
              <a:buNone/>
            </a:pPr>
            <a:r>
              <a:rPr lang="en-IN" sz="2800" dirty="0"/>
              <a:t>✔ Knowledge Retrieval </a:t>
            </a:r>
          </a:p>
          <a:p>
            <a:pPr marL="0" indent="0">
              <a:buNone/>
            </a:pPr>
            <a:r>
              <a:rPr lang="en-IN" sz="2800" dirty="0"/>
              <a:t>✔ Document Summarization </a:t>
            </a:r>
          </a:p>
          <a:p>
            <a:pPr marL="0" indent="0">
              <a:buNone/>
            </a:pPr>
            <a:r>
              <a:rPr lang="en-IN" sz="2800" dirty="0"/>
              <a:t>Applications </a:t>
            </a:r>
          </a:p>
          <a:p>
            <a:pPr marL="0" indent="0">
              <a:buNone/>
            </a:pPr>
            <a:r>
              <a:rPr lang="en-IN" sz="2800" dirty="0"/>
              <a:t>• Enterprise Search </a:t>
            </a:r>
          </a:p>
          <a:p>
            <a:pPr marL="0" indent="0">
              <a:buNone/>
            </a:pPr>
            <a:r>
              <a:rPr lang="en-IN" sz="2800" dirty="0"/>
              <a:t>• Research Assistant </a:t>
            </a:r>
          </a:p>
          <a:p>
            <a:pPr marL="0" indent="0">
              <a:buNone/>
            </a:pPr>
            <a:r>
              <a:rPr lang="en-IN" sz="2800" dirty="0"/>
              <a:t>• Customer Support </a:t>
            </a:r>
          </a:p>
          <a:p>
            <a:pPr marL="0" indent="0">
              <a:buNone/>
            </a:pPr>
            <a:r>
              <a:rPr lang="en-IN" sz="2800" dirty="0"/>
              <a:t>• Digital Libraries</a:t>
            </a:r>
            <a:endParaRPr lang="en-US" sz="2800" dirty="0"/>
          </a:p>
          <a:p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4F53ABA-A3CC-3433-B024-1CB049C44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2976" y="1243584"/>
            <a:ext cx="6416040" cy="561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908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Disadvantages of Existing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9" y="1634099"/>
            <a:ext cx="5163706" cy="468312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❌ Static Retrieval Strategy </a:t>
            </a:r>
          </a:p>
          <a:p>
            <a:pPr marL="0" indent="0">
              <a:buNone/>
            </a:pPr>
            <a:r>
              <a:rPr lang="en-IN" dirty="0"/>
              <a:t>❌ Hallucinated Responses                                                     </a:t>
            </a:r>
          </a:p>
          <a:p>
            <a:pPr marL="0" indent="0">
              <a:buNone/>
            </a:pPr>
            <a:r>
              <a:rPr lang="en-IN" dirty="0"/>
              <a:t>❌ No Evidence Verification </a:t>
            </a:r>
          </a:p>
          <a:p>
            <a:pPr marL="0" indent="0">
              <a:buNone/>
            </a:pPr>
            <a:r>
              <a:rPr lang="en-IN" dirty="0"/>
              <a:t>❌ Limited Explainability </a:t>
            </a:r>
          </a:p>
          <a:p>
            <a:pPr marL="0" indent="0">
              <a:buNone/>
            </a:pPr>
            <a:r>
              <a:rPr lang="en-IN" dirty="0"/>
              <a:t>❌ Poor Handling of Complex Queries </a:t>
            </a:r>
          </a:p>
          <a:p>
            <a:pPr marL="0" indent="0">
              <a:buNone/>
            </a:pPr>
            <a:r>
              <a:rPr lang="en-IN" dirty="0"/>
              <a:t>❌ Reduced User Trust </a:t>
            </a:r>
            <a:endParaRPr lang="en-US" dirty="0"/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E482D5-7D26-CD0A-DF3E-C154089B8C2F}"/>
              </a:ext>
            </a:extLst>
          </p:cNvPr>
          <p:cNvSpPr txBox="1"/>
          <p:nvPr/>
        </p:nvSpPr>
        <p:spPr>
          <a:xfrm>
            <a:off x="6096000" y="1954306"/>
            <a:ext cx="494851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/>
              <a:t>Why a New Framework?</a:t>
            </a:r>
          </a:p>
          <a:p>
            <a:pPr algn="ctr"/>
            <a:endParaRPr lang="en-IN" sz="2400" dirty="0"/>
          </a:p>
          <a:p>
            <a:pPr algn="ctr"/>
            <a:r>
              <a:rPr lang="en-IN" sz="2400" dirty="0"/>
              <a:t> Adaptive Retrieval </a:t>
            </a:r>
          </a:p>
          <a:p>
            <a:pPr algn="ctr"/>
            <a:r>
              <a:rPr lang="en-IN" sz="2400" dirty="0"/>
              <a:t>+ </a:t>
            </a:r>
          </a:p>
          <a:p>
            <a:pPr algn="ctr"/>
            <a:r>
              <a:rPr lang="en-IN" sz="2400" dirty="0"/>
              <a:t>Multi-Agent AI </a:t>
            </a:r>
          </a:p>
          <a:p>
            <a:pPr algn="ctr"/>
            <a:r>
              <a:rPr lang="en-IN" sz="2400" dirty="0"/>
              <a:t>+ </a:t>
            </a:r>
          </a:p>
          <a:p>
            <a:pPr algn="ctr"/>
            <a:r>
              <a:rPr lang="en-IN" sz="2400" dirty="0"/>
              <a:t>Evidence Verification </a:t>
            </a:r>
          </a:p>
          <a:p>
            <a:pPr algn="ctr"/>
            <a:r>
              <a:rPr lang="en-IN" sz="2400" dirty="0"/>
              <a:t>+ </a:t>
            </a:r>
          </a:p>
          <a:p>
            <a:pPr algn="ctr"/>
            <a:r>
              <a:rPr lang="en-IN" sz="2400" dirty="0"/>
              <a:t>Explainability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28212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Proposed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Key Features </a:t>
            </a:r>
          </a:p>
          <a:p>
            <a:pPr marL="0" indent="0">
              <a:buNone/>
            </a:pPr>
            <a:r>
              <a:rPr lang="en-IN" dirty="0"/>
              <a:t>✓ Adaptive Retrieval </a:t>
            </a:r>
          </a:p>
          <a:p>
            <a:pPr marL="0" indent="0">
              <a:buNone/>
            </a:pPr>
            <a:r>
              <a:rPr lang="en-IN" dirty="0"/>
              <a:t>✓ Multi-Agent AI </a:t>
            </a:r>
          </a:p>
          <a:p>
            <a:pPr marL="0" indent="0">
              <a:buNone/>
            </a:pPr>
            <a:r>
              <a:rPr lang="en-IN" dirty="0"/>
              <a:t>✓ Evidence Verification </a:t>
            </a:r>
          </a:p>
          <a:p>
            <a:pPr marL="0" indent="0">
              <a:buNone/>
            </a:pPr>
            <a:r>
              <a:rPr lang="en-IN" dirty="0"/>
              <a:t>✓ Explainability </a:t>
            </a:r>
          </a:p>
          <a:p>
            <a:pPr marL="0" indent="0">
              <a:buNone/>
            </a:pPr>
            <a:r>
              <a:rPr lang="en-IN" dirty="0"/>
              <a:t>✓ Confidence Score</a:t>
            </a:r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458A288-90DB-CD47-4274-9A7A356941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71" t="9600" r="24737" b="7885"/>
          <a:stretch>
            <a:fillRect/>
          </a:stretch>
        </p:blipFill>
        <p:spPr>
          <a:xfrm>
            <a:off x="4749426" y="2396453"/>
            <a:ext cx="1925051" cy="31584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A131FA-6DA4-727D-CE17-30D6D156A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67" t="1861" r="16522"/>
          <a:stretch>
            <a:fillRect/>
          </a:stretch>
        </p:blipFill>
        <p:spPr>
          <a:xfrm>
            <a:off x="7295033" y="1214178"/>
            <a:ext cx="4287367" cy="552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8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Advantages of Proposed System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✅ Adaptive Retrieval </a:t>
            </a:r>
          </a:p>
          <a:p>
            <a:pPr marL="0" indent="0">
              <a:buNone/>
            </a:pPr>
            <a:r>
              <a:rPr lang="en-IN" dirty="0"/>
              <a:t>✅ Multi-Agent Collaboration </a:t>
            </a:r>
          </a:p>
          <a:p>
            <a:pPr marL="0" indent="0">
              <a:buNone/>
            </a:pPr>
            <a:r>
              <a:rPr lang="en-IN" dirty="0"/>
              <a:t>✅ Evidence Verification </a:t>
            </a:r>
          </a:p>
          <a:p>
            <a:pPr marL="0" indent="0">
              <a:buNone/>
            </a:pPr>
            <a:r>
              <a:rPr lang="en-IN" dirty="0"/>
              <a:t>✅ Explainable Responses </a:t>
            </a:r>
          </a:p>
          <a:p>
            <a:pPr marL="0" indent="0">
              <a:buNone/>
            </a:pPr>
            <a:r>
              <a:rPr lang="en-IN" dirty="0"/>
              <a:t>✅ Better Complex Query Handling </a:t>
            </a:r>
          </a:p>
          <a:p>
            <a:pPr marL="0" indent="0">
              <a:buNone/>
            </a:pPr>
            <a:r>
              <a:rPr lang="en-IN" dirty="0"/>
              <a:t>✅ Scalable &amp; Modular Design</a:t>
            </a:r>
            <a:endParaRPr lang="en-US" dirty="0"/>
          </a:p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D26F705-C796-340D-B055-101711BF97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" t="12946" r="4528" b="11843"/>
          <a:stretch>
            <a:fillRect/>
          </a:stretch>
        </p:blipFill>
        <p:spPr>
          <a:xfrm>
            <a:off x="6095999" y="1734683"/>
            <a:ext cx="5395966" cy="434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154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Architecture or Flow diagram (if any)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560438" y="1634099"/>
            <a:ext cx="11071123" cy="4683125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C8C830-BC50-FFC8-AA39-0FEAE7357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2"/>
          <a:stretch>
            <a:fillRect/>
          </a:stretch>
        </p:blipFill>
        <p:spPr>
          <a:xfrm>
            <a:off x="365761" y="1243584"/>
            <a:ext cx="11314962" cy="561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916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Software Requirements Specification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"/>
          </p:nvPr>
        </p:nvSpPr>
        <p:spPr>
          <a:xfrm>
            <a:off x="424178" y="1094741"/>
            <a:ext cx="5313235" cy="5670241"/>
          </a:xfrm>
        </p:spPr>
        <p:txBody>
          <a:bodyPr>
            <a:normAutofit fontScale="85000" lnSpcReduction="20000"/>
          </a:bodyPr>
          <a:lstStyle/>
          <a:p>
            <a:pPr marL="15240" indent="0">
              <a:buNone/>
            </a:pPr>
            <a:r>
              <a:rPr lang="en-IN" sz="2800" b="1" dirty="0"/>
              <a:t>Functional Requirements</a:t>
            </a:r>
            <a:endParaRPr lang="en-IN" sz="2800" dirty="0"/>
          </a:p>
          <a:p>
            <a:r>
              <a:rPr lang="en-IN" sz="2600" dirty="0"/>
              <a:t>User registration, login &amp; role-based access </a:t>
            </a:r>
          </a:p>
          <a:p>
            <a:r>
              <a:rPr lang="en-IN" sz="2600" dirty="0"/>
              <a:t>Upload and manage PDF, DOCX &amp; TXT documents </a:t>
            </a:r>
          </a:p>
          <a:p>
            <a:r>
              <a:rPr lang="en-IN" sz="2600" dirty="0"/>
              <a:t>Document parsing, chunking &amp; metadata extraction </a:t>
            </a:r>
          </a:p>
          <a:p>
            <a:r>
              <a:rPr lang="en-IN" sz="2600" dirty="0"/>
              <a:t>Natural-language Q&amp;A, summarization &amp; document comparison </a:t>
            </a:r>
          </a:p>
          <a:p>
            <a:r>
              <a:rPr lang="en-IN" sz="2600" dirty="0"/>
              <a:t>Adaptive retrieval: </a:t>
            </a:r>
            <a:r>
              <a:rPr lang="en-IN" sz="2600" b="1" dirty="0"/>
              <a:t>BM25 / Dense / Hybrid</a:t>
            </a:r>
            <a:r>
              <a:rPr lang="en-IN" sz="2600" dirty="0"/>
              <a:t> </a:t>
            </a:r>
          </a:p>
          <a:p>
            <a:r>
              <a:rPr lang="en-IN" sz="2600" dirty="0"/>
              <a:t>Cross-Encoder based reranking </a:t>
            </a:r>
          </a:p>
          <a:p>
            <a:r>
              <a:rPr lang="en-IN" sz="2600" dirty="0"/>
              <a:t>Multi-Agent processing using </a:t>
            </a:r>
            <a:r>
              <a:rPr lang="en-IN" sz="2600" b="1" dirty="0" err="1"/>
              <a:t>LangGraph</a:t>
            </a:r>
            <a:r>
              <a:rPr lang="en-IN" sz="2600" dirty="0"/>
              <a:t> </a:t>
            </a:r>
          </a:p>
          <a:p>
            <a:r>
              <a:rPr lang="en-IN" sz="2600" dirty="0"/>
              <a:t>Evidence verification and citation generation </a:t>
            </a:r>
          </a:p>
          <a:p>
            <a:r>
              <a:rPr lang="en-IN" sz="2600" dirty="0"/>
              <a:t>Confidence-aware explainable responses </a:t>
            </a:r>
          </a:p>
          <a:p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B972D5-994A-24FC-8049-F3AAD01FF299}"/>
              </a:ext>
            </a:extLst>
          </p:cNvPr>
          <p:cNvSpPr txBox="1"/>
          <p:nvPr/>
        </p:nvSpPr>
        <p:spPr>
          <a:xfrm>
            <a:off x="5922836" y="1094741"/>
            <a:ext cx="6269164" cy="4593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Non-Functional Requirements</a:t>
            </a:r>
          </a:p>
          <a:p>
            <a:r>
              <a:rPr lang="en-IN" sz="2400" b="1" dirty="0"/>
              <a:t>Security:</a:t>
            </a:r>
            <a:r>
              <a:rPr lang="en-IN" sz="2400" dirty="0"/>
              <a:t> JWT authentication, RBAC, prompt-injection protection </a:t>
            </a:r>
          </a:p>
          <a:p>
            <a:r>
              <a:rPr lang="en-IN" sz="2400" b="1" dirty="0"/>
              <a:t>Performance:</a:t>
            </a:r>
            <a:r>
              <a:rPr lang="en-IN" sz="2400" dirty="0"/>
              <a:t> Low-latency retrieval and response generation </a:t>
            </a:r>
          </a:p>
          <a:p>
            <a:r>
              <a:rPr lang="en-IN" sz="2400" b="1" dirty="0"/>
              <a:t>Reliability:</a:t>
            </a:r>
            <a:r>
              <a:rPr lang="en-IN" sz="2400" dirty="0"/>
              <a:t> Evidence-backed and verified responses </a:t>
            </a:r>
          </a:p>
          <a:p>
            <a:r>
              <a:rPr lang="en-IN" sz="2400" b="1" dirty="0"/>
              <a:t>Scalability:</a:t>
            </a:r>
            <a:r>
              <a:rPr lang="en-IN" sz="2400" dirty="0"/>
              <a:t> Containerized and cloud-deployable architecture </a:t>
            </a:r>
          </a:p>
          <a:p>
            <a:r>
              <a:rPr lang="en-IN" sz="2400" b="1" dirty="0"/>
              <a:t>Usability:</a:t>
            </a:r>
            <a:r>
              <a:rPr lang="en-IN" sz="2400" dirty="0"/>
              <a:t> Simple web interface with transparent results </a:t>
            </a:r>
          </a:p>
          <a:p>
            <a:endParaRPr lang="en-IN"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27827C-3AD3-4D51-FF81-3BEB213AE70D}"/>
              </a:ext>
            </a:extLst>
          </p:cNvPr>
          <p:cNvSpPr txBox="1"/>
          <p:nvPr/>
        </p:nvSpPr>
        <p:spPr>
          <a:xfrm>
            <a:off x="5596128" y="5072211"/>
            <a:ext cx="659587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/>
              <a:t>			Technology Stack</a:t>
            </a:r>
            <a:endParaRPr lang="en-IN" sz="2800" dirty="0"/>
          </a:p>
          <a:p>
            <a:r>
              <a:rPr lang="en-IN" sz="2400" dirty="0"/>
              <a:t>Next.js • FastAPI • PostgreSQL • </a:t>
            </a:r>
            <a:r>
              <a:rPr lang="en-IN" sz="2400" dirty="0" err="1"/>
              <a:t>Qdrant</a:t>
            </a:r>
            <a:r>
              <a:rPr lang="en-IN" sz="2400" dirty="0"/>
              <a:t> • BM25 • BGE Embeddings • Cross-Encoder • </a:t>
            </a:r>
            <a:r>
              <a:rPr lang="en-IN" sz="2400" dirty="0" err="1"/>
              <a:t>LangGraph</a:t>
            </a:r>
            <a:r>
              <a:rPr lang="en-IN" sz="2400" dirty="0"/>
              <a:t> • LLM • Docker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802372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System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AAC11-4D49-EC12-2544-6FF4B8502E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48" y="0"/>
            <a:ext cx="10552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40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Class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CED6DBB-170B-CAE5-4C2D-C962F9F6D3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840" y="43474"/>
            <a:ext cx="10576560" cy="6814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068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Sequence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0E91F6-D8B9-5699-C729-A8255446EA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103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State Chart Diagram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67EB7-8935-096F-3D05-FCA9DDEADA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0636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09600" y="235309"/>
            <a:ext cx="10972800" cy="1143000"/>
          </a:xfrm>
        </p:spPr>
        <p:txBody>
          <a:bodyPr/>
          <a:lstStyle/>
          <a:p>
            <a:r>
              <a:rPr lang="en-US" dirty="0"/>
              <a:t>Deployment Diagram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56CE6E-61AC-EB02-8C6D-40FF2DE8FB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646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639097" y="2408237"/>
            <a:ext cx="10972800" cy="114300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7057712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390</Words>
  <Application>Microsoft Office PowerPoint</Application>
  <PresentationFormat>Widescreen</PresentationFormat>
  <Paragraphs>93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1_Office Theme</vt:lpstr>
      <vt:lpstr>An Adaptive, Explainable Multi-Agent Retrieval Framework for Intelligent Document Analysis  Under the Guidance of  Mr. shaileshbhosekar </vt:lpstr>
      <vt:lpstr>Abstract</vt:lpstr>
      <vt:lpstr>Literature Survey</vt:lpstr>
      <vt:lpstr>Existing System</vt:lpstr>
      <vt:lpstr>Disadvantages of Existing System</vt:lpstr>
      <vt:lpstr>Proposed System</vt:lpstr>
      <vt:lpstr>Advantages of Proposed System</vt:lpstr>
      <vt:lpstr>Architecture or Flow diagram (if any)</vt:lpstr>
      <vt:lpstr>Software Requirements Specification</vt:lpstr>
      <vt:lpstr>System Design</vt:lpstr>
      <vt:lpstr>Class Diagram</vt:lpstr>
      <vt:lpstr>Sequence Diagram</vt:lpstr>
      <vt:lpstr>State Chart Diagram </vt:lpstr>
      <vt:lpstr>Deployment Diagram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ENGINEERING LAB</dc:title>
  <dc:creator>pc</dc:creator>
  <cp:lastModifiedBy>meruva madhav</cp:lastModifiedBy>
  <cp:revision>19</cp:revision>
  <dcterms:created xsi:type="dcterms:W3CDTF">2023-09-14T17:29:40Z</dcterms:created>
  <dcterms:modified xsi:type="dcterms:W3CDTF">2026-09-13T09:39:42Z</dcterms:modified>
</cp:coreProperties>
</file>